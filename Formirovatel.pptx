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vsdx" ContentType="application/vnd.ms-visio.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44" r:id="rId1"/>
  </p:sldMasterIdLst>
  <p:notesMasterIdLst>
    <p:notesMasterId r:id="rId27"/>
  </p:notesMasterIdLst>
  <p:sldIdLst>
    <p:sldId id="257" r:id="rId2"/>
    <p:sldId id="258" r:id="rId3"/>
    <p:sldId id="281" r:id="rId4"/>
    <p:sldId id="279" r:id="rId5"/>
    <p:sldId id="277" r:id="rId6"/>
    <p:sldId id="282" r:id="rId7"/>
    <p:sldId id="278" r:id="rId8"/>
    <p:sldId id="266" r:id="rId9"/>
    <p:sldId id="283" r:id="rId10"/>
    <p:sldId id="265" r:id="rId11"/>
    <p:sldId id="270" r:id="rId12"/>
    <p:sldId id="259" r:id="rId13"/>
    <p:sldId id="273" r:id="rId14"/>
    <p:sldId id="284" r:id="rId15"/>
    <p:sldId id="285" r:id="rId16"/>
    <p:sldId id="280" r:id="rId17"/>
    <p:sldId id="268" r:id="rId18"/>
    <p:sldId id="272" r:id="rId19"/>
    <p:sldId id="276" r:id="rId20"/>
    <p:sldId id="286" r:id="rId21"/>
    <p:sldId id="288" r:id="rId22"/>
    <p:sldId id="287" r:id="rId23"/>
    <p:sldId id="289" r:id="rId24"/>
    <p:sldId id="292" r:id="rId25"/>
    <p:sldId id="262" r:id="rId26"/>
  </p:sldIdLst>
  <p:sldSz cx="9906000" cy="6858000" type="A4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41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93" autoAdjust="0"/>
    <p:restoredTop sz="94333" autoAdjust="0"/>
  </p:normalViewPr>
  <p:slideViewPr>
    <p:cSldViewPr>
      <p:cViewPr varScale="1">
        <p:scale>
          <a:sx n="104" d="100"/>
          <a:sy n="104" d="100"/>
        </p:scale>
        <p:origin x="1254" y="102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8B1232-C946-4467-9F78-128D224DB290}" type="datetimeFigureOut">
              <a:rPr lang="ru-RU" smtClean="0"/>
              <a:pPr/>
              <a:t>05.05.2026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952500" y="685800"/>
            <a:ext cx="4953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F0D743-FCFA-42CD-AD3F-3ED2B2F699B6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952500" y="685800"/>
            <a:ext cx="4953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F0D743-FCFA-42CD-AD3F-3ED2B2F699B6}" type="slidenum">
              <a:rPr lang="ru-RU" smtClean="0"/>
              <a:pPr/>
              <a:t>1</a:t>
            </a:fld>
            <a:endParaRPr lang="ru-RU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742950" y="2130428"/>
            <a:ext cx="8420100" cy="1470025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67598-63CA-44C1-B7A0-61FFAD5E45CA}" type="datetime1">
              <a:rPr lang="ru-RU" smtClean="0"/>
              <a:t>05.05.2026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020DC-9677-4D0B-899D-018DB1403295}" type="datetime1">
              <a:rPr lang="ru-RU" smtClean="0"/>
              <a:t>05.05.2026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4000" b="0">
                <a:solidFill>
                  <a:schemeClr val="tx1"/>
                </a:solidFill>
              </a:defRPr>
            </a:lvl1pPr>
          </a:lstStyle>
          <a:p>
            <a:fld id="{DDCB711F-507F-4143-95C2-A9CD61F9272B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82506" y="4406901"/>
            <a:ext cx="84201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82506" y="2906716"/>
            <a:ext cx="84201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B7726-F2C2-408B-9ACF-E30B04B150AC}" type="datetime1">
              <a:rPr lang="ru-RU" smtClean="0"/>
              <a:t>05.05.2026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95300" y="1600201"/>
            <a:ext cx="43751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5035550" y="1600201"/>
            <a:ext cx="43751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C0285-F268-4DF9-8E7E-247826C3E457}" type="datetime1">
              <a:rPr lang="ru-RU" smtClean="0"/>
              <a:t>05.05.2026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95302" y="1535113"/>
            <a:ext cx="43768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95302" y="2174875"/>
            <a:ext cx="43768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5032115" y="1535113"/>
            <a:ext cx="4378589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5032115" y="2174875"/>
            <a:ext cx="4378589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975AB-CA65-47D6-BD78-6E66A24BE33C}" type="datetime1">
              <a:rPr lang="ru-RU" smtClean="0"/>
              <a:t>05.05.2026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0086-0DB6-412B-89CD-F7FEDFE506DF}" type="datetime1">
              <a:rPr lang="ru-RU" smtClean="0"/>
              <a:t>05.05.2026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12A90-9720-46C6-8C36-B0819B4DFE5B}" type="datetime1">
              <a:rPr lang="ru-RU" smtClean="0"/>
              <a:t>05.05.2026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6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872972" y="273053"/>
            <a:ext cx="553773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95302" y="1435101"/>
            <a:ext cx="3259006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731BC-5F21-42E8-A2A7-D76EE8321363}" type="datetime1">
              <a:rPr lang="ru-RU" smtClean="0"/>
              <a:t>05.05.2026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941645" y="4800601"/>
            <a:ext cx="59436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941645" y="612775"/>
            <a:ext cx="59436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941645" y="5367339"/>
            <a:ext cx="59436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F7948-E270-4A34-A1A7-745149975F5C}" type="datetime1">
              <a:rPr lang="ru-RU" smtClean="0"/>
              <a:t>05.05.2026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C58E5-40F5-4F2D-9639-D3B9D1C5DBDA}" type="datetime1">
              <a:rPr lang="ru-RU" smtClean="0"/>
              <a:t>05.05.2026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7181850" y="274641"/>
            <a:ext cx="2228850" cy="5851525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95300" y="274641"/>
            <a:ext cx="6521450" cy="585152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B0927-5D39-4E1C-A20C-6BA25AD1EBA1}" type="datetime1">
              <a:rPr lang="ru-RU" smtClean="0"/>
              <a:t>05.05.2026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95300" y="6356353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D6F28E-03ED-4FEB-A0B5-1290C2BD8F10}" type="datetime1">
              <a:rPr lang="ru-RU" smtClean="0"/>
              <a:t>05.05.2026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384550" y="6356353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7099300" y="6356353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package" Target="../embeddings/Microsoft_Visio_Drawing.vsdx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package" Target="../embeddings/Microsoft_Visio_Drawing1.vsdx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405010" y="1052736"/>
            <a:ext cx="9095979" cy="4572008"/>
          </a:xfrm>
        </p:spPr>
        <p:txBody>
          <a:bodyPr>
            <a:noAutofit/>
          </a:bodyPr>
          <a:lstStyle/>
          <a:p>
            <a:r>
              <a:rPr lang="ru-RU" sz="4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РЕАЛИЗАЦИЯ В ПЛИС ФОРМИРОВАТЕЛЯ ФАЗОМАНИПУЛИРОВАННОГО ЛЧМ СИГНАЛА С ИСТОЧНИКОМ ИНФОРМАЦИОННЫХ ДАННЫХ НА ОСНОВЕ КОДА ГОЛДА</a:t>
            </a:r>
            <a:br>
              <a:rPr lang="ru-RU" sz="4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4000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86922" y="1000110"/>
            <a:ext cx="8915400" cy="4525963"/>
          </a:xfrm>
        </p:spPr>
        <p:txBody>
          <a:bodyPr>
            <a:normAutofit/>
          </a:bodyPr>
          <a:lstStyle/>
          <a:p>
            <a:pPr marL="0" marR="0" indent="44831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dirty="0"/>
              <a:t>    </a:t>
            </a:r>
            <a:r>
              <a:rPr lang="ru-RU" b="1" dirty="0"/>
              <a:t>Цель работы</a:t>
            </a:r>
            <a:r>
              <a:rPr lang="ru-RU" dirty="0"/>
              <a:t>: </a:t>
            </a:r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разработка формирователя фазоманипулированного ЛЧМ-сигнала с источником информационных данных на основе кода Голда, предназначенного для использования в спутниковых системах связи.</a:t>
            </a:r>
          </a:p>
          <a:p>
            <a:pPr algn="just">
              <a:buNone/>
            </a:pP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017645B-4CDB-F298-2AAA-0E1DB2780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2</a:t>
            </a:fld>
            <a:endParaRPr lang="ru-RU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ЗАДАЧИ 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86490" y="1417638"/>
            <a:ext cx="9210228" cy="4493095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ru-RU" dirty="0"/>
              <a:t>Разработка алгоритма работы передатчика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Разработка математической модели формирователя в среде «</a:t>
            </a:r>
            <a:r>
              <a:rPr lang="en-US" dirty="0"/>
              <a:t>MATLAB</a:t>
            </a:r>
            <a:r>
              <a:rPr lang="ru-RU" dirty="0"/>
              <a:t>»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Реализация модели передатчика в ПЛИС в среде </a:t>
            </a:r>
            <a:r>
              <a:rPr lang="en-US" dirty="0"/>
              <a:t>Xilinx </a:t>
            </a:r>
            <a:r>
              <a:rPr lang="ru-RU" dirty="0"/>
              <a:t>«</a:t>
            </a:r>
            <a:r>
              <a:rPr lang="en-US" dirty="0"/>
              <a:t>VIVADO</a:t>
            </a:r>
            <a:r>
              <a:rPr lang="ru-RU" dirty="0"/>
              <a:t>»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Создание </a:t>
            </a:r>
            <a:r>
              <a:rPr lang="en-US" dirty="0"/>
              <a:t>IP </a:t>
            </a:r>
            <a:r>
              <a:rPr lang="ru-RU" dirty="0"/>
              <a:t>модуля формирователя ЛЧМ ФМ-2 сигнала</a:t>
            </a:r>
          </a:p>
          <a:p>
            <a:pPr marL="0" indent="0">
              <a:buNone/>
            </a:pPr>
            <a:endParaRPr lang="ru-RU" dirty="0"/>
          </a:p>
          <a:p>
            <a:pPr marL="514350" indent="-514350">
              <a:buFont typeface="+mj-lt"/>
              <a:buAutoNum type="arabicPeriod"/>
            </a:pP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4BA632D-545B-AB8C-113A-E38723330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5338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939784"/>
          </a:xfrm>
        </p:spPr>
        <p:txBody>
          <a:bodyPr/>
          <a:lstStyle/>
          <a:p>
            <a:r>
              <a:rPr lang="ru-RU" dirty="0"/>
              <a:t>Алгоритм работы передатчика</a:t>
            </a:r>
          </a:p>
        </p:txBody>
      </p:sp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0"/>
            <a:ext cx="9906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073DBE1-54EE-BF3E-1659-DD45F73F3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5442" y="1155456"/>
            <a:ext cx="214530" cy="3828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ctr"/>
            <a:endParaRPr lang="ru-RU"/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64B96A3C-9924-DD8A-6255-0603A273874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33225626"/>
              </p:ext>
            </p:extLst>
          </p:nvPr>
        </p:nvGraphicFramePr>
        <p:xfrm>
          <a:off x="3224808" y="1340122"/>
          <a:ext cx="3672408" cy="522101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2" imgW="3162412" imgH="4496064" progId="Visio.Drawing.15">
                  <p:embed/>
                </p:oleObj>
              </mc:Choice>
              <mc:Fallback>
                <p:oleObj name="Visio" r:id="rId2" imgW="3162412" imgH="4496064" progId="Visio.Drawing.15">
                  <p:embed/>
                  <p:pic>
                    <p:nvPicPr>
                      <p:cNvPr id="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24808" y="1340122"/>
                        <a:ext cx="3672408" cy="5221014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E93326C-B217-7CBD-6CD6-6AFC1EB24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>
                <a:solidFill>
                  <a:schemeClr val="tx1"/>
                </a:solidFill>
              </a:rPr>
              <a:pPr/>
              <a:t>4</a:t>
            </a:fld>
            <a:endParaRPr lang="ru-RU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939784"/>
          </a:xfrm>
        </p:spPr>
        <p:txBody>
          <a:bodyPr/>
          <a:lstStyle/>
          <a:p>
            <a:r>
              <a:rPr lang="ru-RU" dirty="0"/>
              <a:t>Тракт передачи</a:t>
            </a:r>
          </a:p>
        </p:txBody>
      </p:sp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0"/>
            <a:ext cx="9906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1FD6AFC-47AC-8FA2-AAB4-6CE7BE896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568" y="1772816"/>
            <a:ext cx="7505700" cy="261937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4545762-B764-A087-F530-8971604B6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5</a:t>
            </a:fld>
            <a:endParaRPr lang="ru-RU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FEE8B5-79CD-A977-BE37-86485BFCE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Алгоритм работы формирователя в среде «</a:t>
            </a:r>
            <a:r>
              <a:rPr lang="en-US" dirty="0"/>
              <a:t>MATLAB</a:t>
            </a:r>
            <a:r>
              <a:rPr lang="ru-RU" dirty="0"/>
              <a:t>»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F9147A8-320F-9AB9-E411-E6F4F16C6A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90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graphicFrame>
        <p:nvGraphicFramePr>
          <p:cNvPr id="5" name="Объект 4">
            <a:extLst>
              <a:ext uri="{FF2B5EF4-FFF2-40B4-BE49-F238E27FC236}">
                <a16:creationId xmlns:a16="http://schemas.microsoft.com/office/drawing/2014/main" id="{5671C9FB-A07F-29B2-AA13-9FD92A02FE0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274098"/>
              </p:ext>
            </p:extLst>
          </p:nvPr>
        </p:nvGraphicFramePr>
        <p:xfrm>
          <a:off x="3232039" y="1663644"/>
          <a:ext cx="3441922" cy="502657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2" imgW="3848212" imgH="5619825" progId="Visio.Drawing.15">
                  <p:embed/>
                </p:oleObj>
              </mc:Choice>
              <mc:Fallback>
                <p:oleObj name="Visio" r:id="rId2" imgW="3848212" imgH="5619825" progId="Visio.Drawing.15">
                  <p:embed/>
                  <p:pic>
                    <p:nvPicPr>
                      <p:cNvPr id="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32039" y="1663644"/>
                        <a:ext cx="3441922" cy="5026570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8733E0D-64E5-7AF8-958A-3864CD3DB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04348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200" dirty="0"/>
              <a:t>Параметры модели «</a:t>
            </a:r>
            <a:r>
              <a:rPr lang="en-US" sz="3200" dirty="0"/>
              <a:t>MATLAB</a:t>
            </a:r>
            <a:r>
              <a:rPr lang="ru-RU" sz="3200" dirty="0"/>
              <a:t>»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66D58171-541D-9BC5-DBA3-B36A4856D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3319310"/>
              </p:ext>
            </p:extLst>
          </p:nvPr>
        </p:nvGraphicFramePr>
        <p:xfrm>
          <a:off x="56456" y="1082839"/>
          <a:ext cx="8352928" cy="577665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088009">
                  <a:extLst>
                    <a:ext uri="{9D8B030D-6E8A-4147-A177-3AD203B41FA5}">
                      <a16:colId xmlns:a16="http://schemas.microsoft.com/office/drawing/2014/main" val="2802838826"/>
                    </a:ext>
                  </a:extLst>
                </a:gridCol>
                <a:gridCol w="2088009">
                  <a:extLst>
                    <a:ext uri="{9D8B030D-6E8A-4147-A177-3AD203B41FA5}">
                      <a16:colId xmlns:a16="http://schemas.microsoft.com/office/drawing/2014/main" val="2418880613"/>
                    </a:ext>
                  </a:extLst>
                </a:gridCol>
                <a:gridCol w="2255158">
                  <a:extLst>
                    <a:ext uri="{9D8B030D-6E8A-4147-A177-3AD203B41FA5}">
                      <a16:colId xmlns:a16="http://schemas.microsoft.com/office/drawing/2014/main" val="1795348642"/>
                    </a:ext>
                  </a:extLst>
                </a:gridCol>
                <a:gridCol w="1921752">
                  <a:extLst>
                    <a:ext uri="{9D8B030D-6E8A-4147-A177-3AD203B41FA5}">
                      <a16:colId xmlns:a16="http://schemas.microsoft.com/office/drawing/2014/main" val="2853193291"/>
                    </a:ext>
                  </a:extLst>
                </a:gridCol>
              </a:tblGrid>
              <a:tr h="271830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</a:rPr>
                        <a:t>Параметр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</a:rPr>
                        <a:t>Обозначение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Значение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Описание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extLst>
                  <a:ext uri="{0D108BD9-81ED-4DB2-BD59-A6C34878D82A}">
                    <a16:rowId xmlns:a16="http://schemas.microsoft.com/office/drawing/2014/main" val="4140076237"/>
                  </a:ext>
                </a:extLst>
              </a:tr>
              <a:tr h="576211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Начальная частота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f0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0 </a:t>
                      </a:r>
                      <a:r>
                        <a:rPr lang="ru-RU" sz="1400">
                          <a:effectLst/>
                        </a:rPr>
                        <a:t>Гц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Начальная частота ЛЧМ-сигнала 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extLst>
                  <a:ext uri="{0D108BD9-81ED-4DB2-BD59-A6C34878D82A}">
                    <a16:rowId xmlns:a16="http://schemas.microsoft.com/office/drawing/2014/main" val="1496813714"/>
                  </a:ext>
                </a:extLst>
              </a:tr>
              <a:tr h="713844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Частота дискретизации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fs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24 МГц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Частота формирования отсчетов сигнала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extLst>
                  <a:ext uri="{0D108BD9-81ED-4DB2-BD59-A6C34878D82A}">
                    <a16:rowId xmlns:a16="http://schemas.microsoft.com/office/drawing/2014/main" val="413682294"/>
                  </a:ext>
                </a:extLst>
              </a:tr>
              <a:tr h="576211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Символьная скорость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R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1200 бод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Скорость передачи символов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extLst>
                  <a:ext uri="{0D108BD9-81ED-4DB2-BD59-A6C34878D82A}">
                    <a16:rowId xmlns:a16="http://schemas.microsoft.com/office/drawing/2014/main" val="3269540900"/>
                  </a:ext>
                </a:extLst>
              </a:tr>
              <a:tr h="576211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Девиация частоты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alpha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300 кГц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Изменение частоты за один символ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extLst>
                  <a:ext uri="{0D108BD9-81ED-4DB2-BD59-A6C34878D82A}">
                    <a16:rowId xmlns:a16="http://schemas.microsoft.com/office/drawing/2014/main" val="2304017769"/>
                  </a:ext>
                </a:extLst>
              </a:tr>
              <a:tr h="576211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Максимальная частота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Fmax = f0 + alpha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300 кГц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Максимальная частота ЛЧМ сигнала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extLst>
                  <a:ext uri="{0D108BD9-81ED-4DB2-BD59-A6C34878D82A}">
                    <a16:rowId xmlns:a16="http://schemas.microsoft.com/office/drawing/2014/main" val="647373622"/>
                  </a:ext>
                </a:extLst>
              </a:tr>
              <a:tr h="880592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Информационная последовательность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Progression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[101100110100111]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15 </a:t>
                      </a:r>
                      <a:r>
                        <a:rPr lang="ru-RU" sz="1400">
                          <a:effectLst/>
                        </a:rPr>
                        <a:t>символов</a:t>
                      </a:r>
                      <a:r>
                        <a:rPr lang="en-US" sz="1400">
                          <a:effectLst/>
                        </a:rPr>
                        <a:t>, </a:t>
                      </a:r>
                      <a:r>
                        <a:rPr lang="ru-RU" sz="1400">
                          <a:effectLst/>
                        </a:rPr>
                        <a:t>имитирующих информационные биты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extLst>
                  <a:ext uri="{0D108BD9-81ED-4DB2-BD59-A6C34878D82A}">
                    <a16:rowId xmlns:a16="http://schemas.microsoft.com/office/drawing/2014/main" val="1531169749"/>
                  </a:ext>
                </a:extLst>
              </a:tr>
              <a:tr h="713844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Длительность символа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T = 1/R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~833,3 </a:t>
                      </a:r>
                      <a:r>
                        <a:rPr lang="ru-RU" sz="1400">
                          <a:effectLst/>
                        </a:rPr>
                        <a:t>мкс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Время формирования одного ЛЧМ символа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extLst>
                  <a:ext uri="{0D108BD9-81ED-4DB2-BD59-A6C34878D82A}">
                    <a16:rowId xmlns:a16="http://schemas.microsoft.com/office/drawing/2014/main" val="4050462150"/>
                  </a:ext>
                </a:extLst>
              </a:tr>
              <a:tr h="713844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Количество отсчетов на символ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samp = fs/R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20000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</a:rPr>
                        <a:t>Количество отсчетов одного символа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extLst>
                  <a:ext uri="{0D108BD9-81ED-4DB2-BD59-A6C34878D82A}">
                    <a16:rowId xmlns:a16="http://schemas.microsoft.com/office/drawing/2014/main" val="2002273652"/>
                  </a:ext>
                </a:extLst>
              </a:tr>
            </a:tbl>
          </a:graphicData>
        </a:graphic>
      </p:graphicFrame>
      <p:sp>
        <p:nvSpPr>
          <p:cNvPr id="7" name="Объект 6">
            <a:extLst>
              <a:ext uri="{FF2B5EF4-FFF2-40B4-BE49-F238E27FC236}">
                <a16:creationId xmlns:a16="http://schemas.microsoft.com/office/drawing/2014/main" id="{A8E93147-D573-5972-5CFD-D3CA21D6B0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7BF5CEA3-180B-E342-9278-CD0C0874E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7</a:t>
            </a:fld>
            <a:endParaRPr lang="ru-RU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70455" y="213659"/>
            <a:ext cx="8965090" cy="1414510"/>
          </a:xfrm>
        </p:spPr>
        <p:txBody>
          <a:bodyPr>
            <a:noAutofit/>
          </a:bodyPr>
          <a:lstStyle/>
          <a:p>
            <a:r>
              <a:rPr lang="ru-RU" sz="3200" b="1" dirty="0">
                <a:latin typeface="Times New Roman" pitchFamily="18" charset="0"/>
                <a:cs typeface="Times New Roman" pitchFamily="18" charset="0"/>
              </a:rPr>
              <a:t>Результаты моделирование в среде «</a:t>
            </a:r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MATLAB</a:t>
            </a:r>
            <a:r>
              <a:rPr lang="ru-RU" sz="3200" b="1" dirty="0">
                <a:latin typeface="Times New Roman" pitchFamily="18" charset="0"/>
                <a:cs typeface="Times New Roman" pitchFamily="18" charset="0"/>
              </a:rPr>
              <a:t>»</a:t>
            </a:r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.</a:t>
            </a:r>
            <a:br>
              <a:rPr lang="ru-RU" sz="3200" b="1" dirty="0">
                <a:latin typeface="Times New Roman" pitchFamily="18" charset="0"/>
                <a:cs typeface="Times New Roman" pitchFamily="18" charset="0"/>
              </a:rPr>
            </a:br>
            <a:r>
              <a:rPr lang="ru-RU" sz="3200" b="1" dirty="0">
                <a:latin typeface="Times New Roman" pitchFamily="18" charset="0"/>
                <a:cs typeface="Times New Roman" pitchFamily="18" charset="0"/>
              </a:rPr>
              <a:t>Осциллограмма сигнала и информационная последовательность (первые 3 символа)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D2E5C9F-51E3-1F7B-2799-2A0C9ACA25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00" y="1988840"/>
            <a:ext cx="6984776" cy="4281955"/>
          </a:xfrm>
          <a:prstGeom prst="rect">
            <a:avLst/>
          </a:prstGeom>
        </p:spPr>
      </p:pic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AE5B4313-2FA2-7597-5C5F-C66C44F15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8</a:t>
            </a:fld>
            <a:endParaRPr lang="ru-RU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308E0A9C-7D16-A20F-1E6C-64C9E3E0A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504" y="260648"/>
            <a:ext cx="9066212" cy="1642194"/>
          </a:xfrm>
        </p:spPr>
        <p:txBody>
          <a:bodyPr>
            <a:noAutofit/>
          </a:bodyPr>
          <a:lstStyle/>
          <a:p>
            <a:r>
              <a:rPr lang="ru-RU" sz="3200" b="1" dirty="0">
                <a:latin typeface="Times New Roman" pitchFamily="18" charset="0"/>
                <a:cs typeface="Times New Roman" pitchFamily="18" charset="0"/>
              </a:rPr>
              <a:t>Результаты моделирование в среде «</a:t>
            </a:r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MATLAB</a:t>
            </a:r>
            <a:r>
              <a:rPr lang="ru-RU" sz="3200" b="1" dirty="0">
                <a:latin typeface="Times New Roman" pitchFamily="18" charset="0"/>
                <a:cs typeface="Times New Roman" pitchFamily="18" charset="0"/>
              </a:rPr>
              <a:t>»</a:t>
            </a:r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.</a:t>
            </a:r>
            <a:br>
              <a:rPr lang="ru-RU" sz="3200" b="1" dirty="0">
                <a:latin typeface="Times New Roman" pitchFamily="18" charset="0"/>
                <a:cs typeface="Times New Roman" pitchFamily="18" charset="0"/>
              </a:rPr>
            </a:br>
            <a:r>
              <a:rPr lang="ru-RU" sz="3200" b="1" dirty="0">
                <a:latin typeface="Times New Roman" pitchFamily="18" charset="0"/>
                <a:cs typeface="Times New Roman" pitchFamily="18" charset="0"/>
              </a:rPr>
              <a:t>Осциллограмма сигнала вблизи (первые 2 символа)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09DA409-00AC-BAA1-A4C5-64FD80F7E5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811" y="2161864"/>
            <a:ext cx="8172391" cy="2534271"/>
          </a:xfrm>
          <a:prstGeom prst="rect">
            <a:avLst/>
          </a:prstGeom>
        </p:spPr>
      </p:pic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FAFB1304-0FD2-CA0B-271E-EFB729B7E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93538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75BA20BA-8F60-91A4-FBDF-ED1D9E7B7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455" y="213659"/>
            <a:ext cx="8965090" cy="1414510"/>
          </a:xfrm>
        </p:spPr>
        <p:txBody>
          <a:bodyPr>
            <a:noAutofit/>
          </a:bodyPr>
          <a:lstStyle/>
          <a:p>
            <a:r>
              <a:rPr lang="ru-RU" sz="3200" b="1" dirty="0">
                <a:latin typeface="Times New Roman" pitchFamily="18" charset="0"/>
                <a:cs typeface="Times New Roman" pitchFamily="18" charset="0"/>
              </a:rPr>
              <a:t>Результаты моделирование в среде «</a:t>
            </a:r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MATLAB</a:t>
            </a:r>
            <a:r>
              <a:rPr lang="ru-RU" sz="3200" b="1" dirty="0">
                <a:latin typeface="Times New Roman" pitchFamily="18" charset="0"/>
                <a:cs typeface="Times New Roman" pitchFamily="18" charset="0"/>
              </a:rPr>
              <a:t>»</a:t>
            </a:r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.</a:t>
            </a:r>
            <a:br>
              <a:rPr lang="ru-RU" sz="3200" b="1" dirty="0">
                <a:latin typeface="Times New Roman" pitchFamily="18" charset="0"/>
                <a:cs typeface="Times New Roman" pitchFamily="18" charset="0"/>
              </a:rPr>
            </a:br>
            <a:r>
              <a:rPr lang="ru-RU" sz="3200" b="1" dirty="0">
                <a:latin typeface="Times New Roman" pitchFamily="18" charset="0"/>
                <a:cs typeface="Times New Roman" pitchFamily="18" charset="0"/>
              </a:rPr>
              <a:t>Спектр сигнала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F61A9DD-AF05-3FC9-F582-3E094A83F1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2640" y="1887837"/>
            <a:ext cx="6624736" cy="4112931"/>
          </a:xfrm>
          <a:prstGeom prst="rect">
            <a:avLst/>
          </a:prstGeom>
        </p:spPr>
      </p:pic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A0939F71-FC9F-5659-103D-229892E2C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10</a:t>
            </a:fld>
            <a:endParaRPr lang="ru-RU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5506810B-1186-12BA-AC88-6456D4924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092" y="285728"/>
            <a:ext cx="9539444" cy="1271064"/>
          </a:xfrm>
        </p:spPr>
        <p:txBody>
          <a:bodyPr>
            <a:normAutofit fontScale="90000"/>
          </a:bodyPr>
          <a:lstStyle/>
          <a:p>
            <a:r>
              <a:rPr lang="ru-RU" sz="3200" b="1" dirty="0">
                <a:latin typeface="Times New Roman" pitchFamily="18" charset="0"/>
                <a:cs typeface="Times New Roman" pitchFamily="18" charset="0"/>
              </a:rPr>
              <a:t>Реализация формирователя на ПЛИС</a:t>
            </a:r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.</a:t>
            </a:r>
            <a:br>
              <a:rPr lang="ru-RU" sz="3200" b="1" dirty="0">
                <a:latin typeface="Times New Roman" pitchFamily="18" charset="0"/>
                <a:cs typeface="Times New Roman" pitchFamily="18" charset="0"/>
              </a:rPr>
            </a:br>
            <a:r>
              <a:rPr lang="ru-RU" sz="3200" b="1" dirty="0">
                <a:latin typeface="Times New Roman" pitchFamily="18" charset="0"/>
                <a:cs typeface="Times New Roman" pitchFamily="18" charset="0"/>
              </a:rPr>
              <a:t>Блок-схема алгоритма работы формирователя на ПЛИС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4274548-8286-EA48-71E6-B267394FD6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00" y="1632638"/>
            <a:ext cx="7060204" cy="5076016"/>
          </a:xfrm>
          <a:prstGeom prst="rect">
            <a:avLst/>
          </a:prstGeom>
        </p:spPr>
      </p:pic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0ED23422-3A53-35EF-D99C-DB13ED9C9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11</a:t>
            </a:fld>
            <a:endParaRPr lang="ru-RU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D0DC6DE0-C557-85C8-E16E-19F021096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RTL (register transfer level) </a:t>
            </a:r>
            <a:r>
              <a:rPr lang="ru-RU" dirty="0"/>
              <a:t>схема формирователя в среде «</a:t>
            </a:r>
            <a:r>
              <a:rPr lang="en-US" dirty="0" err="1"/>
              <a:t>Vivado</a:t>
            </a:r>
            <a:r>
              <a:rPr lang="ru-RU" dirty="0"/>
              <a:t>»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34FF1E0-E970-EC3A-7931-712D803B94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80" y="1916832"/>
            <a:ext cx="8915400" cy="3934975"/>
          </a:xfrm>
          <a:prstGeom prst="rect">
            <a:avLst/>
          </a:prstGeom>
        </p:spPr>
      </p:pic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BAA6E2C8-C6A5-747E-F988-C5EE33B30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12</a:t>
            </a:fld>
            <a:endParaRPr lang="ru-RU"/>
          </a:p>
        </p:txBody>
      </p:sp>
    </p:spTree>
  </p:cSld>
  <p:clrMapOvr>
    <a:masterClrMapping/>
  </p:clrMapOvr>
  <p:transition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8092" y="285728"/>
            <a:ext cx="9539444" cy="1271064"/>
          </a:xfrm>
        </p:spPr>
        <p:txBody>
          <a:bodyPr>
            <a:normAutofit/>
          </a:bodyPr>
          <a:lstStyle/>
          <a:p>
            <a:r>
              <a:rPr lang="ru-RU" sz="3200" b="1" dirty="0">
                <a:latin typeface="Times New Roman" pitchFamily="18" charset="0"/>
                <a:cs typeface="Times New Roman" pitchFamily="18" charset="0"/>
              </a:rPr>
              <a:t>Модуль управления </a:t>
            </a:r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DDS </a:t>
            </a:r>
            <a:br>
              <a:rPr lang="en-US" sz="3200" b="1" dirty="0">
                <a:latin typeface="Times New Roman" pitchFamily="18" charset="0"/>
                <a:cs typeface="Times New Roman" pitchFamily="18" charset="0"/>
              </a:rPr>
            </a:br>
            <a:r>
              <a:rPr lang="en-US" sz="3200" b="1" dirty="0" err="1">
                <a:latin typeface="Times New Roman" pitchFamily="18" charset="0"/>
                <a:cs typeface="Times New Roman" pitchFamily="18" charset="0"/>
              </a:rPr>
              <a:t>DDS_Control</a:t>
            </a:r>
            <a:endParaRPr lang="ru-RU" sz="32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9167842" y="6215082"/>
            <a:ext cx="50006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dirty="0"/>
              <a:t> 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21282A5-C196-AF76-126C-9DDF85E73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720" y="1772551"/>
            <a:ext cx="4772660" cy="4582160"/>
          </a:xfrm>
          <a:prstGeom prst="rect">
            <a:avLst/>
          </a:prstGeom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1010BA5-A2C9-62B1-6B51-BB8F3EBE0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13</a:t>
            </a:fld>
            <a:endParaRPr lang="ru-RU"/>
          </a:p>
        </p:txBody>
      </p:sp>
    </p:spTree>
  </p:cSld>
  <p:clrMapOvr>
    <a:masterClrMapping/>
  </p:clrMapOvr>
  <p:transition>
    <p:dissolv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C80A78-581E-EF7D-BBA2-221C05F5F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274638"/>
            <a:ext cx="9066212" cy="1426170"/>
          </a:xfrm>
        </p:spPr>
        <p:txBody>
          <a:bodyPr>
            <a:normAutofit fontScale="90000"/>
          </a:bodyPr>
          <a:lstStyle/>
          <a:p>
            <a:r>
              <a:rPr lang="ru-RU" dirty="0"/>
              <a:t>Симуляция модуля </a:t>
            </a:r>
            <a:r>
              <a:rPr lang="en-US" dirty="0" err="1"/>
              <a:t>DDS_Control</a:t>
            </a:r>
            <a:br>
              <a:rPr lang="en-US" dirty="0"/>
            </a:br>
            <a:r>
              <a:rPr lang="ru-RU" dirty="0"/>
              <a:t>Инициализация параметров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FBBF176-07EF-8E12-4988-8200E2E57D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2560" y="1844824"/>
            <a:ext cx="7920880" cy="4378286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9913343-4C32-6FC9-E7A1-F1130FE37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66450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68FD2BCD-6D22-DD86-1FC0-7DC4D30CA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274638"/>
            <a:ext cx="9066212" cy="1426170"/>
          </a:xfrm>
        </p:spPr>
        <p:txBody>
          <a:bodyPr>
            <a:normAutofit fontScale="90000"/>
          </a:bodyPr>
          <a:lstStyle/>
          <a:p>
            <a:r>
              <a:rPr lang="ru-RU" dirty="0"/>
              <a:t>Симуляция модуля </a:t>
            </a:r>
            <a:r>
              <a:rPr lang="en-US" dirty="0" err="1"/>
              <a:t>DDS_Control</a:t>
            </a:r>
            <a:br>
              <a:rPr lang="en-US" dirty="0"/>
            </a:br>
            <a:r>
              <a:rPr lang="ru-RU" dirty="0"/>
              <a:t>Максимум фазового инкремента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0DCA5E6-B0DB-EA32-49AB-E0CFECA6138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248" y="2060848"/>
            <a:ext cx="8460456" cy="3384376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6A200A9D-D62A-37ED-4794-6FF601FD0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68645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9167842" y="6215082"/>
            <a:ext cx="50006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dirty="0"/>
              <a:t> 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444AD0B8-CCB8-1533-9F1F-E9CE778859A3}"/>
              </a:ext>
            </a:extLst>
          </p:cNvPr>
          <p:cNvSpPr txBox="1">
            <a:spLocks/>
          </p:cNvSpPr>
          <p:nvPr/>
        </p:nvSpPr>
        <p:spPr>
          <a:xfrm>
            <a:off x="495300" y="274638"/>
            <a:ext cx="9066212" cy="14261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Симуляция модуля </a:t>
            </a:r>
            <a:r>
              <a:rPr lang="en-US" dirty="0" err="1"/>
              <a:t>DDS_Control</a:t>
            </a:r>
            <a:br>
              <a:rPr lang="en-US" dirty="0"/>
            </a:br>
            <a:r>
              <a:rPr lang="ru-RU" dirty="0"/>
              <a:t>Минимум фазового инкремента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F196B25-3CD8-C3BA-BA4E-AA13C2F367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536" y="2132856"/>
            <a:ext cx="7916676" cy="3111664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2C6CF120-CE94-4C23-A3F1-0E9EB63EC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16</a:t>
            </a:fld>
            <a:endParaRPr lang="ru-RU"/>
          </a:p>
        </p:txBody>
      </p:sp>
    </p:spTree>
  </p:cSld>
  <p:clrMapOvr>
    <a:masterClrMapping/>
  </p:clrMapOvr>
  <p:transition>
    <p:dissolv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CB921CF3-FED3-0ADF-FCF2-2EB5A2335E8A}"/>
              </a:ext>
            </a:extLst>
          </p:cNvPr>
          <p:cNvSpPr txBox="1">
            <a:spLocks/>
          </p:cNvSpPr>
          <p:nvPr/>
        </p:nvSpPr>
        <p:spPr>
          <a:xfrm>
            <a:off x="495300" y="274638"/>
            <a:ext cx="9066212" cy="14261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Симуляция модуля </a:t>
            </a:r>
            <a:r>
              <a:rPr lang="en-US" dirty="0" err="1"/>
              <a:t>DDS_Control</a:t>
            </a:r>
            <a:br>
              <a:rPr lang="en-US" dirty="0"/>
            </a:br>
            <a:r>
              <a:rPr lang="ru-RU" dirty="0"/>
              <a:t>Формирование первых двух символов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9660DB1-CA5D-69BB-3E67-7C29AE27EE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528" y="2060848"/>
            <a:ext cx="8723438" cy="371224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FBFD620-DAF2-58AC-026E-A0E5F1244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17</a:t>
            </a:fld>
            <a:endParaRPr lang="ru-RU"/>
          </a:p>
        </p:txBody>
      </p:sp>
    </p:spTree>
  </p:cSld>
  <p:clrMapOvr>
    <a:masterClrMapping/>
  </p:clrMapOvr>
  <p:transition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DF68AAF5-0B53-B046-5659-369CEB2048B0}"/>
              </a:ext>
            </a:extLst>
          </p:cNvPr>
          <p:cNvSpPr txBox="1">
            <a:spLocks/>
          </p:cNvSpPr>
          <p:nvPr/>
        </p:nvSpPr>
        <p:spPr>
          <a:xfrm>
            <a:off x="495300" y="274638"/>
            <a:ext cx="9066212" cy="14261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Модуль генерации кода Голда</a:t>
            </a:r>
          </a:p>
          <a:p>
            <a:r>
              <a:rPr lang="en-US" dirty="0" err="1"/>
              <a:t>Gold_Code</a:t>
            </a:r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E09EAE4-45F7-8BC6-3A62-9C59746F9D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696" y="1860688"/>
            <a:ext cx="5472608" cy="4720683"/>
          </a:xfrm>
          <a:prstGeom prst="rect">
            <a:avLst/>
          </a:prstGeom>
        </p:spPr>
      </p:pic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759DFD4A-EA12-97F1-4C3A-5EF74E95F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18</a:t>
            </a:fld>
            <a:endParaRPr lang="ru-RU"/>
          </a:p>
        </p:txBody>
      </p:sp>
    </p:spTree>
  </p:cSld>
  <p:clrMapOvr>
    <a:masterClrMapping/>
  </p:clrMapOvr>
  <p:transition>
    <p:dissolv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1E0823F8-8995-B40A-A954-8BC1CA449C80}"/>
              </a:ext>
            </a:extLst>
          </p:cNvPr>
          <p:cNvSpPr txBox="1">
            <a:spLocks/>
          </p:cNvSpPr>
          <p:nvPr/>
        </p:nvSpPr>
        <p:spPr>
          <a:xfrm>
            <a:off x="495300" y="274638"/>
            <a:ext cx="9066212" cy="14261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Выбор полиномов модуля </a:t>
            </a:r>
            <a:r>
              <a:rPr lang="en-US" dirty="0" err="1"/>
              <a:t>Gold_Code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658175CB-B651-C463-2EA2-6F134957AE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201" y="2132856"/>
            <a:ext cx="4849799" cy="2890051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2B854EB5-F143-0019-15A5-D7A19FAC4B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32856"/>
            <a:ext cx="4815120" cy="2890051"/>
          </a:xfrm>
          <a:prstGeom prst="rect">
            <a:avLst/>
          </a:prstGeom>
        </p:spPr>
      </p:pic>
      <p:sp>
        <p:nvSpPr>
          <p:cNvPr id="16" name="Номер слайда 15">
            <a:extLst>
              <a:ext uri="{FF2B5EF4-FFF2-40B4-BE49-F238E27FC236}">
                <a16:creationId xmlns:a16="http://schemas.microsoft.com/office/drawing/2014/main" id="{B6ACD124-499D-764D-F4BC-1223692A2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19</a:t>
            </a:fld>
            <a:endParaRPr lang="ru-RU"/>
          </a:p>
        </p:txBody>
      </p:sp>
    </p:spTree>
  </p:cSld>
  <p:clrMapOvr>
    <a:masterClrMapping/>
  </p:clrMapOvr>
  <p:transition>
    <p:dissolv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C2687B-8918-D98E-42F0-C9E3C3EAB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116632"/>
            <a:ext cx="8915400" cy="1417638"/>
          </a:xfrm>
        </p:spPr>
        <p:txBody>
          <a:bodyPr>
            <a:normAutofit fontScale="90000"/>
          </a:bodyPr>
          <a:lstStyle/>
          <a:p>
            <a:r>
              <a:rPr lang="ru-RU" dirty="0"/>
              <a:t>Симуляция модуля </a:t>
            </a:r>
            <a:r>
              <a:rPr lang="en-US" dirty="0" err="1"/>
              <a:t>Gold_Code</a:t>
            </a:r>
            <a:br>
              <a:rPr lang="en-US" dirty="0"/>
            </a:br>
            <a:r>
              <a:rPr lang="ru-RU" dirty="0"/>
              <a:t>Инициализация 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10B3892-A0A2-7466-F80A-34105C3961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480" y="1873496"/>
            <a:ext cx="9361040" cy="311100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1799DE0-1912-4AE9-E9C0-C763BD160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14076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C2687B-8918-D98E-42F0-C9E3C3EAB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116632"/>
            <a:ext cx="8915400" cy="1417638"/>
          </a:xfrm>
        </p:spPr>
        <p:txBody>
          <a:bodyPr>
            <a:normAutofit fontScale="90000"/>
          </a:bodyPr>
          <a:lstStyle/>
          <a:p>
            <a:r>
              <a:rPr lang="ru-RU" dirty="0"/>
              <a:t>Симуляция модуля </a:t>
            </a:r>
            <a:r>
              <a:rPr lang="en-US" dirty="0" err="1"/>
              <a:t>Gold_Code</a:t>
            </a:r>
            <a:r>
              <a:rPr lang="en-US" dirty="0"/>
              <a:t>.</a:t>
            </a:r>
            <a:br>
              <a:rPr lang="en-US" dirty="0"/>
            </a:br>
            <a:r>
              <a:rPr lang="ru-RU" dirty="0"/>
              <a:t>Завершение генерации 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E799542-7313-9213-EE84-35F224C0AE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488" y="2348880"/>
            <a:ext cx="9217024" cy="2311399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94B5D61F-8D55-6FE3-260D-DB724132A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40196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ED7DC9-3F2E-A90E-D2FF-544975EAC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504" y="188640"/>
            <a:ext cx="9138220" cy="1690091"/>
          </a:xfrm>
        </p:spPr>
        <p:txBody>
          <a:bodyPr>
            <a:normAutofit fontScale="90000"/>
          </a:bodyPr>
          <a:lstStyle/>
          <a:p>
            <a:r>
              <a:rPr lang="ru-RU" dirty="0"/>
              <a:t>Симуляция результирующего модуля</a:t>
            </a:r>
            <a:br>
              <a:rPr lang="ru-RU" dirty="0"/>
            </a:br>
            <a:r>
              <a:rPr lang="en-US" dirty="0" err="1"/>
              <a:t>top_module</a:t>
            </a:r>
            <a:r>
              <a:rPr lang="en-US" dirty="0"/>
              <a:t>.</a:t>
            </a:r>
            <a:br>
              <a:rPr lang="ru-RU" dirty="0"/>
            </a:br>
            <a:r>
              <a:rPr lang="ru-RU" dirty="0"/>
              <a:t>Инициализация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1E3674E-08ED-3D56-EF65-13451F8C47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6576" y="2217555"/>
            <a:ext cx="7317264" cy="4618633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CC43535-CFCF-768F-39AA-B9838325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49095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ED7DC9-3F2E-A90E-D2FF-544975EAC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504" y="188640"/>
            <a:ext cx="9138220" cy="1690091"/>
          </a:xfrm>
        </p:spPr>
        <p:txBody>
          <a:bodyPr>
            <a:normAutofit fontScale="90000"/>
          </a:bodyPr>
          <a:lstStyle/>
          <a:p>
            <a:r>
              <a:rPr lang="ru-RU" dirty="0"/>
              <a:t>Симуляция результирующего модуля</a:t>
            </a:r>
            <a:br>
              <a:rPr lang="ru-RU" dirty="0"/>
            </a:br>
            <a:r>
              <a:rPr lang="en-US" dirty="0" err="1"/>
              <a:t>top_module</a:t>
            </a:r>
            <a:r>
              <a:rPr lang="en-US" dirty="0"/>
              <a:t>.</a:t>
            </a:r>
            <a:br>
              <a:rPr lang="ru-RU" dirty="0"/>
            </a:br>
            <a:r>
              <a:rPr lang="ru-RU" dirty="0"/>
              <a:t>Генерация первых 6 символов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A1ABDB2-0BB0-632F-122B-1DFA92D24A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8584" y="2276872"/>
            <a:ext cx="7763645" cy="4032448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8DDFD9B-A9BC-D4DD-FDF5-86306D603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72394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ED7DC9-3F2E-A90E-D2FF-544975EAC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504" y="188641"/>
            <a:ext cx="9001000" cy="1512168"/>
          </a:xfrm>
        </p:spPr>
        <p:txBody>
          <a:bodyPr>
            <a:normAutofit fontScale="90000"/>
          </a:bodyPr>
          <a:lstStyle/>
          <a:p>
            <a:r>
              <a:rPr lang="ru-RU" dirty="0"/>
              <a:t>Симуляция результирующего модуля</a:t>
            </a:r>
            <a:br>
              <a:rPr lang="ru-RU" dirty="0"/>
            </a:br>
            <a:r>
              <a:rPr lang="en-US" dirty="0" err="1"/>
              <a:t>top_module</a:t>
            </a:r>
            <a:r>
              <a:rPr lang="en-US" dirty="0"/>
              <a:t>.</a:t>
            </a:r>
            <a:br>
              <a:rPr lang="ru-RU" dirty="0"/>
            </a:br>
            <a:r>
              <a:rPr lang="ru-RU" dirty="0"/>
              <a:t>Изменение начальной фазы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21D6BF7-894C-23F6-C384-1339B52831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182" y="2060848"/>
            <a:ext cx="6111307" cy="3888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1CBE347-F12D-45AB-336C-250EB11E1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5547" y="3429000"/>
            <a:ext cx="3481799" cy="1512168"/>
          </a:xfrm>
          <a:prstGeom prst="rect">
            <a:avLst/>
          </a:prstGeom>
        </p:spPr>
      </p:pic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1982FBF3-8A13-6851-4308-838F5271E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66026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b="1" dirty="0">
                <a:latin typeface="Times New Roman" pitchFamily="18" charset="0"/>
                <a:cs typeface="Times New Roman" pitchFamily="18" charset="0"/>
              </a:rPr>
              <a:t>Выводы: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44488" y="1428735"/>
            <a:ext cx="9066212" cy="4952593"/>
          </a:xfrm>
        </p:spPr>
        <p:txBody>
          <a:bodyPr>
            <a:normAutofit/>
          </a:bodyPr>
          <a:lstStyle/>
          <a:p>
            <a:pPr marL="609600" indent="-514350" algn="just">
              <a:buAutoNum type="arabicPeriod"/>
            </a:pPr>
            <a:r>
              <a:rPr lang="ru-RU" sz="2800" dirty="0"/>
              <a:t>В рамках проведенных исследований  разработан формирователь фазоманипулированного ЛЧМ сигнала с информационными данными на основе кода Голда</a:t>
            </a:r>
            <a:r>
              <a:rPr lang="en-US" sz="2800" dirty="0"/>
              <a:t>.</a:t>
            </a:r>
            <a:endParaRPr lang="ru-RU" sz="2800" dirty="0"/>
          </a:p>
          <a:p>
            <a:pPr marL="609600" indent="-514350" algn="just">
              <a:buAutoNum type="arabicPeriod"/>
            </a:pPr>
            <a:r>
              <a:rPr lang="ru-RU" sz="2800" dirty="0"/>
              <a:t> В результате моделирование данного сигнала в среде «</a:t>
            </a:r>
            <a:r>
              <a:rPr lang="en-US" sz="2800" dirty="0" err="1"/>
              <a:t>Vivado</a:t>
            </a:r>
            <a:r>
              <a:rPr lang="ru-RU" sz="2800" dirty="0"/>
              <a:t>» подтвердилась возможность генерации данного сигнала и использование его в ПЛИС</a:t>
            </a:r>
            <a:r>
              <a:rPr lang="en-US" sz="2800"/>
              <a:t>.</a:t>
            </a:r>
            <a:endParaRPr lang="en-US" sz="2800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43037E1-30A8-37C4-A9A8-DB706DCE5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25</a:t>
            </a:fld>
            <a:endParaRPr lang="ru-RU"/>
          </a:p>
        </p:txBody>
      </p:sp>
    </p:spTree>
  </p:cSld>
  <p:clrMapOvr>
    <a:masterClrMapping/>
  </p:clrMapOvr>
  <p:transition>
    <p:fade thruBlk="1"/>
  </p:transition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3381</TotalTime>
  <Words>432</Words>
  <Application>Microsoft Office PowerPoint</Application>
  <PresentationFormat>Лист A4 (210x297 мм)</PresentationFormat>
  <Paragraphs>95</Paragraphs>
  <Slides>25</Slides>
  <Notes>1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25</vt:i4>
      </vt:variant>
    </vt:vector>
  </HeadingPairs>
  <TitlesOfParts>
    <vt:vector size="30" baseType="lpstr">
      <vt:lpstr>Arial</vt:lpstr>
      <vt:lpstr>Calibri</vt:lpstr>
      <vt:lpstr>Times New Roman</vt:lpstr>
      <vt:lpstr>Тема Office</vt:lpstr>
      <vt:lpstr>Visio</vt:lpstr>
      <vt:lpstr>РЕАЛИЗАЦИЯ В ПЛИС ФОРМИРОВАТЕЛЯ ФАЗОМАНИПУЛИРОВАННОГО ЛЧМ СИГНАЛА С ИСТОЧНИКОМ ИНФОРМАЦИОННЫХ ДАННЫХ НА ОСНОВЕ КОДА ГОЛДА  </vt:lpstr>
      <vt:lpstr>Презентация PowerPoint</vt:lpstr>
      <vt:lpstr>ЗАДАЧИ </vt:lpstr>
      <vt:lpstr>Алгоритм работы передатчика</vt:lpstr>
      <vt:lpstr>Тракт передачи</vt:lpstr>
      <vt:lpstr>Алгоритм работы формирователя в среде «MATLAB»</vt:lpstr>
      <vt:lpstr>Параметры модели «MATLAB»</vt:lpstr>
      <vt:lpstr>Результаты моделирование в среде «MATLAB». Осциллограмма сигнала и информационная последовательность (первые 3 символа)</vt:lpstr>
      <vt:lpstr>Результаты моделирование в среде «MATLAB». Осциллограмма сигнала вблизи (первые 2 символа)</vt:lpstr>
      <vt:lpstr>Результаты моделирование в среде «MATLAB». Спектр сигнала</vt:lpstr>
      <vt:lpstr>Реализация формирователя на ПЛИС. Блок-схема алгоритма работы формирователя на ПЛИС</vt:lpstr>
      <vt:lpstr>RTL (register transfer level) схема формирователя в среде «Vivado»</vt:lpstr>
      <vt:lpstr>Модуль управления DDS  DDS_Control</vt:lpstr>
      <vt:lpstr>Симуляция модуля DDS_Control Инициализация параметров</vt:lpstr>
      <vt:lpstr>Симуляция модуля DDS_Control Максимум фазового инкремента</vt:lpstr>
      <vt:lpstr>Презентация PowerPoint</vt:lpstr>
      <vt:lpstr>Презентация PowerPoint</vt:lpstr>
      <vt:lpstr>Презентация PowerPoint</vt:lpstr>
      <vt:lpstr>Презентация PowerPoint</vt:lpstr>
      <vt:lpstr>Симуляция модуля Gold_Code Инициализация </vt:lpstr>
      <vt:lpstr>Симуляция модуля Gold_Code. Завершение генерации </vt:lpstr>
      <vt:lpstr>Симуляция результирующего модуля top_module. Инициализация</vt:lpstr>
      <vt:lpstr>Симуляция результирующего модуля top_module. Генерация первых 6 символов</vt:lpstr>
      <vt:lpstr>Симуляция результирующего модуля top_module. Изменение начальной фазы</vt:lpstr>
      <vt:lpstr>Выводы: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Александра</dc:creator>
  <cp:lastModifiedBy>Сергей Раваев</cp:lastModifiedBy>
  <cp:revision>210</cp:revision>
  <dcterms:created xsi:type="dcterms:W3CDTF">2010-11-07T11:16:40Z</dcterms:created>
  <dcterms:modified xsi:type="dcterms:W3CDTF">2026-05-04T21:35:03Z</dcterms:modified>
</cp:coreProperties>
</file>