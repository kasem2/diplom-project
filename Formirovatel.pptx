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sdx" ContentType="application/vnd.ms-visio.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56" r:id="rId1"/>
  </p:sldMasterIdLst>
  <p:notesMasterIdLst>
    <p:notesMasterId r:id="rId29"/>
  </p:notesMasterIdLst>
  <p:sldIdLst>
    <p:sldId id="257" r:id="rId2"/>
    <p:sldId id="258" r:id="rId3"/>
    <p:sldId id="281" r:id="rId4"/>
    <p:sldId id="279" r:id="rId5"/>
    <p:sldId id="277" r:id="rId6"/>
    <p:sldId id="282" r:id="rId7"/>
    <p:sldId id="278" r:id="rId8"/>
    <p:sldId id="266" r:id="rId9"/>
    <p:sldId id="283" r:id="rId10"/>
    <p:sldId id="265" r:id="rId11"/>
    <p:sldId id="270" r:id="rId12"/>
    <p:sldId id="259" r:id="rId13"/>
    <p:sldId id="272" r:id="rId14"/>
    <p:sldId id="273" r:id="rId15"/>
    <p:sldId id="293" r:id="rId16"/>
    <p:sldId id="294" r:id="rId17"/>
    <p:sldId id="284" r:id="rId18"/>
    <p:sldId id="285" r:id="rId19"/>
    <p:sldId id="280" r:id="rId20"/>
    <p:sldId id="268" r:id="rId21"/>
    <p:sldId id="276" r:id="rId22"/>
    <p:sldId id="286" r:id="rId23"/>
    <p:sldId id="288" r:id="rId24"/>
    <p:sldId id="287" r:id="rId25"/>
    <p:sldId id="289" r:id="rId26"/>
    <p:sldId id="292" r:id="rId27"/>
    <p:sldId id="262" r:id="rId28"/>
  </p:sldIdLst>
  <p:sldSz cx="9906000" cy="6858000" type="A4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8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14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93" autoAdjust="0"/>
    <p:restoredTop sz="94333" autoAdjust="0"/>
  </p:normalViewPr>
  <p:slideViewPr>
    <p:cSldViewPr>
      <p:cViewPr varScale="1">
        <p:scale>
          <a:sx n="104" d="100"/>
          <a:sy n="104" d="100"/>
        </p:scale>
        <p:origin x="1254" y="108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5-13T12:30:45.549" idx="8">
    <p:pos x="10" y="10"/>
    <p:text>сузить поле</p:text>
    <p:extLst>
      <p:ext uri="{C676402C-5697-4E1C-873F-D02D1690AC5C}">
        <p15:threadingInfo xmlns:p15="http://schemas.microsoft.com/office/powerpoint/2012/main" timeZoneBias="-18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8B1232-C946-4467-9F78-128D224DB290}" type="datetimeFigureOut">
              <a:rPr lang="ru-RU" smtClean="0"/>
              <a:pPr/>
              <a:t>08.06.2026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952500" y="685800"/>
            <a:ext cx="4953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F0D743-FCFA-42CD-AD3F-3ED2B2F699B6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952500" y="685800"/>
            <a:ext cx="4953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3F0D743-FCFA-42CD-AD3F-3ED2B2F699B6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534E07-1898-587D-8A68-789A29B4BD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69CE213-D11F-28D4-7C27-E4926608D6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127A60A-9845-E112-A14B-51932EFEB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67598-63CA-44C1-B7A0-61FFAD5E45CA}" type="datetime1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082360-0617-0532-2286-6CE7E94EF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DDC9E8-6121-06E9-2D74-1D17594FF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1764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3CDB1F-AEBC-21A1-90CA-C8B56E027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C15560-892F-E232-8EF8-B3BE8BD0CC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2BAB4F-0B7D-7C52-BFF4-ACACA15A4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020DC-9677-4D0B-899D-018DB1403295}" type="datetime1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A409224-7C87-C1CC-526D-BC745FA29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0BDD719-836B-859A-798D-7A86594C6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09024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5758DF-D18F-B266-CA2B-CF303AC9A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8" y="1709739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11F4A6-27D4-25E0-101D-9B7E8CD92C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8" y="4589464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82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82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82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28175F-BC80-89F3-EBC1-0CFAA20E1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B7726-F2C2-408B-9ACF-E30B04B150AC}" type="datetime1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0C949B3-6027-09B5-C72C-EA24C8817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263CFB-213D-BFA5-8562-38276C9FB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5095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8829725-6B92-509A-5B67-5BADC760B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CF6E02-8C54-595B-8EDA-AD960D690D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7EF2023-FA2E-0A8A-868D-0A09F4759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935CAD-2913-3B6F-3A5C-419629E3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C0285-F268-4DF9-8E7E-247826C3E457}" type="datetime1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046A0CE-154E-F500-75E8-6C22574D8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68FC6CB-51A7-2424-9668-448E8221A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2210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309348-2C36-2EAC-6B12-433655028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EFF81C3-AD44-6577-E548-E5E90FF55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8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C080FC8-5474-0277-BD7D-503AB91A9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8" y="2505075"/>
            <a:ext cx="4190702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96A14BE-03F5-B300-0DFC-E7920E39FA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450443D-DCDF-A511-FF82-E5A00CF023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41EDD22-8066-629E-DE41-4FB0BE210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6975AB-CA65-47D6-BD78-6E66A24BE33C}" type="datetime1">
              <a:rPr lang="ru-RU" smtClean="0"/>
              <a:t>08.06.2026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3EDB940-5B61-7C18-3F4F-7A303D3A0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1E58CD-E057-0F76-CD73-42F408CFD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5487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D2D584-C188-C857-C040-37FC37F656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E375ABD-AC62-8DA6-BE57-E7F18A2FE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0086-0DB6-412B-89CD-F7FEDFE506DF}" type="datetime1">
              <a:rPr lang="ru-RU" smtClean="0"/>
              <a:t>08.06.2026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5ED7909-DAEA-EC34-F283-EC11C8EF5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6CA8295-0DAD-EC61-2009-1338648C7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9622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31E3B48-98BD-1B29-D065-F68454EEF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12A90-9720-46C6-8C36-B0819B4DFE5B}" type="datetime1">
              <a:rPr lang="ru-RU" smtClean="0"/>
              <a:t>08.06.2026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AFF0372-7D9E-3C77-86D1-26685143F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6BE05CE-D83C-EB13-FF9C-D76092877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236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6EE5E0-C315-5018-49DE-5FCB49D9D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CAF7C6-01BA-0904-488B-4464D69EFE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1676636-E7A6-2B81-ED42-E4BBD45235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3C805DF-8E28-629E-8FA6-9B2ED2775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731BC-5F21-42E8-A2A7-D76EE8321363}" type="datetime1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431B497-F75E-4AE0-2927-545A2BF84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22FB63D-455B-55D7-36B9-43683F2A5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902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52C92C-1784-96BF-3E33-15C5DA0B7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2AFC565-81D9-9882-FB7B-4851C0C17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78A006D-A938-AA50-FBE3-DA1FF3D10C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9A4D644-FFED-114A-9095-43EEC479C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5F7948-E270-4A34-A1A7-745149975F5C}" type="datetime1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7D4A8B-F436-9921-23F6-731DB80A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0B7FE13-9070-ADB3-8460-2AA6FAE2F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6102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3EF6FE-F45F-A279-7F33-D1046086D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BE2C335-F526-1D84-234B-39460CC5D7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B92E6E4-7360-C460-DFA8-C1BCB9728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EC58E5-40F5-4F2D-9639-D3B9D1C5DBDA}" type="datetime1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AB73B80-11CA-E627-5C56-532B648E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412768-48C4-6A13-C580-164B0FC4B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543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0DED89D-B8C6-EF8E-A693-1C457CE2AF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1" y="365125"/>
            <a:ext cx="2135981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AC74782-E313-D476-E9EA-0347EF1A40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7" y="365125"/>
            <a:ext cx="6284119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B4B728-C26F-E627-5547-88C235781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B0927-5D39-4E1C-A20C-6BA25AD1EBA1}" type="datetime1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C20C6D-4136-90BB-8AF1-F211108F7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90386FF-4B17-EBC9-5C6C-E811C0680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8819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B0A593-7E34-AE25-84FC-0BEFF93FF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ADF51-9C18-A1D7-4611-8D816666F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A372FE2-312D-A916-B344-4BBD04F8E5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D6F28E-03ED-4FEB-A0B5-1290C2BD8F10}" type="datetime1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9F3423-C146-2B0D-A39E-030C29A6C3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3BE3BA7-31C4-E550-AEB0-C72BFAA591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CB711F-507F-4143-95C2-A9CD61F927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4203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package" Target="../embeddings/Microsoft_Visio_Drawing.vsdx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title"/>
          </p:nvPr>
        </p:nvSpPr>
        <p:spPr>
          <a:xfrm>
            <a:off x="344488" y="908720"/>
            <a:ext cx="9095979" cy="3663288"/>
          </a:xfrm>
        </p:spPr>
        <p:txBody>
          <a:bodyPr>
            <a:noAutofit/>
          </a:bodyPr>
          <a:lstStyle/>
          <a:p>
            <a:pPr algn="ctr"/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РЕАЛИЗАЦИЯ В ПЛИС ФОРМИРОВАТЕЛЯ ФАЗОМАНИПУЛИРОВАННОГО ЛЧМ СИГНАЛА </a:t>
            </a:r>
            <a:b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 ИСТОЧНИКОМ ИНФОРМАЦИОННЫХ ДАННЫХ </a:t>
            </a:r>
            <a:b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 ОСНОВЕ КОДА ГОЛДА</a:t>
            </a:r>
            <a:endParaRPr lang="ru-RU" sz="36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Содержимое 2"/>
          <p:cNvSpPr>
            <a:spLocks noGrp="1"/>
          </p:cNvSpPr>
          <p:nvPr>
            <p:ph idx="1"/>
          </p:nvPr>
        </p:nvSpPr>
        <p:spPr>
          <a:xfrm>
            <a:off x="5241032" y="4572008"/>
            <a:ext cx="4664968" cy="1737311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  учебной группы 7252</a:t>
            </a:r>
          </a:p>
          <a:p>
            <a:pPr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Раваев Сергей Леонидович</a:t>
            </a:r>
          </a:p>
          <a:p>
            <a:pPr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проф.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Незванов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Александр Юрьевич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86922" y="1000110"/>
            <a:ext cx="8915400" cy="4525963"/>
          </a:xfrm>
        </p:spPr>
        <p:txBody>
          <a:bodyPr>
            <a:normAutofit/>
          </a:bodyPr>
          <a:lstStyle/>
          <a:p>
            <a:pPr marL="0" marR="0" indent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 	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Разработка формирователя фазоманипулированного ЛЧМ-сигнала с источником информационных данных на основе кода Голда, предназначенного для использования в спутниковых системах связи.</a:t>
            </a:r>
          </a:p>
          <a:p>
            <a:pPr algn="just">
              <a:buNone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17645B-4CDB-F298-2AAA-0E1DB2780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44488" y="1340768"/>
            <a:ext cx="9210228" cy="4493095"/>
          </a:xfrm>
        </p:spPr>
        <p:txBody>
          <a:bodyPr/>
          <a:lstStyle/>
          <a:p>
            <a:pPr marL="0" indent="0" algn="ctr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работы передатчика ЛЧМ ФМ-2 сигналов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математической модели формирователя сигналов в среде «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 моделирование формирователя ЛЧМ ФМ-2 сигналов в САПР «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Vivado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AMD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модуля формирователя ЛЧМ ФМ-2 сигнала на ПЛИС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Spartan-3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/>
          </a:p>
          <a:p>
            <a:pPr marL="514350" indent="-514350">
              <a:buFont typeface="+mj-lt"/>
              <a:buAutoNum type="arabicPeriod"/>
            </a:pP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4BA632D-545B-AB8C-113A-E38723330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5338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472270"/>
            <a:ext cx="8915400" cy="706090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работы передатчика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E93326C-B217-7CBD-6CD6-6AFC1EB24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>
                <a:solidFill>
                  <a:schemeClr val="tx1"/>
                </a:solidFill>
              </a:rPr>
              <a:pPr/>
              <a:t>4</a:t>
            </a:fld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0"/>
            <a:ext cx="9906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73DBE1-54EE-BF3E-1659-DD45F73F3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5442" y="1155456"/>
            <a:ext cx="214530" cy="38287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endParaRPr lang="ru-RU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DD2D51C-601E-3958-6E34-1FE7A2712C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98" y="2492893"/>
            <a:ext cx="9683203" cy="1677677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0538" y="547755"/>
            <a:ext cx="8915400" cy="939784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Передающий тракт на основе ЛЧМ ФМ-2 сигналов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545762-B764-A087-F530-8971604B6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5</a:t>
            </a:fld>
            <a:endParaRPr lang="ru-RU"/>
          </a:p>
        </p:txBody>
      </p:sp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0"/>
            <a:ext cx="9906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63172AD-BC1A-5F53-02EA-7FB7C3824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13" y="2420888"/>
            <a:ext cx="8553450" cy="2447925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FEE8B5-79CD-A977-BE37-86485BFCE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515540"/>
            <a:ext cx="8543925" cy="1325563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работы </a:t>
            </a:r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формирователя сигналов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ЛЧМ ФМ-2 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среде «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8733E0D-64E5-7AF8-958A-3864CD3DB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6</a:t>
            </a:fld>
            <a:endParaRPr lang="ru-RU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F9147A8-320F-9AB9-E411-E6F4F16C6A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90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9902DBB-16BA-E58A-A5DF-E6563E613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88" y="2904489"/>
            <a:ext cx="9614623" cy="1194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434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634082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Параметры модели «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BF5CEA3-180B-E342-9278-CD0C0874E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7</a:t>
            </a:fld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6D58171-541D-9BC5-DBA3-B36A4856D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028505"/>
              </p:ext>
            </p:extLst>
          </p:nvPr>
        </p:nvGraphicFramePr>
        <p:xfrm>
          <a:off x="632520" y="1052736"/>
          <a:ext cx="8352928" cy="539646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88009">
                  <a:extLst>
                    <a:ext uri="{9D8B030D-6E8A-4147-A177-3AD203B41FA5}">
                      <a16:colId xmlns:a16="http://schemas.microsoft.com/office/drawing/2014/main" val="2802838826"/>
                    </a:ext>
                  </a:extLst>
                </a:gridCol>
                <a:gridCol w="2088009">
                  <a:extLst>
                    <a:ext uri="{9D8B030D-6E8A-4147-A177-3AD203B41FA5}">
                      <a16:colId xmlns:a16="http://schemas.microsoft.com/office/drawing/2014/main" val="2418880613"/>
                    </a:ext>
                  </a:extLst>
                </a:gridCol>
                <a:gridCol w="2255158">
                  <a:extLst>
                    <a:ext uri="{9D8B030D-6E8A-4147-A177-3AD203B41FA5}">
                      <a16:colId xmlns:a16="http://schemas.microsoft.com/office/drawing/2014/main" val="1795348642"/>
                    </a:ext>
                  </a:extLst>
                </a:gridCol>
                <a:gridCol w="1921752">
                  <a:extLst>
                    <a:ext uri="{9D8B030D-6E8A-4147-A177-3AD203B41FA5}">
                      <a16:colId xmlns:a16="http://schemas.microsoft.com/office/drawing/2014/main" val="2853193291"/>
                    </a:ext>
                  </a:extLst>
                </a:gridCol>
              </a:tblGrid>
              <a:tr h="50405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Параметр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Обозначение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Значение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Описание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extLst>
                  <a:ext uri="{0D108BD9-81ED-4DB2-BD59-A6C34878D82A}">
                    <a16:rowId xmlns:a16="http://schemas.microsoft.com/office/drawing/2014/main" val="4140076237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Начальная частота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f0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0 </a:t>
                      </a:r>
                      <a:r>
                        <a:rPr lang="ru-RU" sz="1400" dirty="0">
                          <a:effectLst/>
                        </a:rPr>
                        <a:t>Гц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Начальная частота ЛЧМ-сигнала 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extLst>
                  <a:ext uri="{0D108BD9-81ED-4DB2-BD59-A6C34878D82A}">
                    <a16:rowId xmlns:a16="http://schemas.microsoft.com/office/drawing/2014/main" val="1496813714"/>
                  </a:ext>
                </a:extLst>
              </a:tr>
              <a:tr h="5201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Частота дискретизации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fs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24 МГц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Частота формирования отсчетов сигнала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extLst>
                  <a:ext uri="{0D108BD9-81ED-4DB2-BD59-A6C34878D82A}">
                    <a16:rowId xmlns:a16="http://schemas.microsoft.com/office/drawing/2014/main" val="413682294"/>
                  </a:ext>
                </a:extLst>
              </a:tr>
              <a:tr h="526347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Символьная скорость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R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1200 бод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Скорость передачи символов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extLst>
                  <a:ext uri="{0D108BD9-81ED-4DB2-BD59-A6C34878D82A}">
                    <a16:rowId xmlns:a16="http://schemas.microsoft.com/office/drawing/2014/main" val="3269540900"/>
                  </a:ext>
                </a:extLst>
              </a:tr>
              <a:tr h="50222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Девиация частоты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alpha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300 кГц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Изменение частоты за один символ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extLst>
                  <a:ext uri="{0D108BD9-81ED-4DB2-BD59-A6C34878D82A}">
                    <a16:rowId xmlns:a16="http://schemas.microsoft.com/office/drawing/2014/main" val="2304017769"/>
                  </a:ext>
                </a:extLst>
              </a:tr>
              <a:tr h="576211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Максимальная частота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 err="1">
                          <a:effectLst/>
                        </a:rPr>
                        <a:t>Fmax</a:t>
                      </a:r>
                      <a:r>
                        <a:rPr lang="en-US" sz="1400" dirty="0">
                          <a:effectLst/>
                        </a:rPr>
                        <a:t> = f0 + alpha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300 кГц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Максимальная частота ЛЧМ сигнала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extLst>
                  <a:ext uri="{0D108BD9-81ED-4DB2-BD59-A6C34878D82A}">
                    <a16:rowId xmlns:a16="http://schemas.microsoft.com/office/drawing/2014/main" val="647373622"/>
                  </a:ext>
                </a:extLst>
              </a:tr>
              <a:tr h="717952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Информационная последовательность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Progression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[101100110100111]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15 </a:t>
                      </a:r>
                      <a:r>
                        <a:rPr lang="ru-RU" sz="1400" dirty="0">
                          <a:effectLst/>
                        </a:rPr>
                        <a:t>символов</a:t>
                      </a:r>
                      <a:r>
                        <a:rPr lang="en-US" sz="1400" dirty="0">
                          <a:effectLst/>
                        </a:rPr>
                        <a:t>, </a:t>
                      </a:r>
                      <a:r>
                        <a:rPr lang="ru-RU" sz="1400" dirty="0">
                          <a:effectLst/>
                        </a:rPr>
                        <a:t>имитирующих информационные биты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extLst>
                  <a:ext uri="{0D108BD9-81ED-4DB2-BD59-A6C34878D82A}">
                    <a16:rowId xmlns:a16="http://schemas.microsoft.com/office/drawing/2014/main" val="1531169749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Длительность символа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T = 1/R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dirty="0">
                          <a:effectLst/>
                        </a:rPr>
                        <a:t>~833,3 </a:t>
                      </a:r>
                      <a:r>
                        <a:rPr lang="ru-RU" sz="1400" dirty="0" err="1">
                          <a:effectLst/>
                        </a:rPr>
                        <a:t>мкс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Время формирования одного ЛЧМ символа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extLst>
                  <a:ext uri="{0D108BD9-81ED-4DB2-BD59-A6C34878D82A}">
                    <a16:rowId xmlns:a16="http://schemas.microsoft.com/office/drawing/2014/main" val="4050462150"/>
                  </a:ext>
                </a:extLst>
              </a:tr>
              <a:tr h="713844"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Количество отсчетов на символ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>
                          <a:effectLst/>
                        </a:rPr>
                        <a:t>samp = fs/R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</a:rPr>
                        <a:t>20000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tc>
                  <a:txBody>
                    <a:bodyPr/>
                    <a:lstStyle/>
                    <a:p>
                      <a:pPr marL="0" marR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</a:rPr>
                        <a:t>Количество отсчетов одного символа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3969" marR="33969" marT="0" marB="0" anchor="ctr"/>
                </a:tc>
                <a:extLst>
                  <a:ext uri="{0D108BD9-81ED-4DB2-BD59-A6C34878D82A}">
                    <a16:rowId xmlns:a16="http://schemas.microsoft.com/office/drawing/2014/main" val="2002273652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70454" y="404664"/>
            <a:ext cx="8965090" cy="1127109"/>
          </a:xfrm>
        </p:spPr>
        <p:txBody>
          <a:bodyPr>
            <a:noAutofit/>
          </a:bodyPr>
          <a:lstStyle/>
          <a:p>
            <a:pPr algn="ctr"/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Результаты моделирование в среде «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MATLAB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2400" dirty="0">
                <a:latin typeface="Times New Roman" pitchFamily="18" charset="0"/>
                <a:cs typeface="Times New Roman" pitchFamily="18" charset="0"/>
              </a:rPr>
            </a:b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Осциллограмма сигнала и информационная последовательность (первые 3 символа)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AE5B4313-2FA2-7597-5C5F-C66C44F15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8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4DC1EB6-8102-6D1D-BE17-8FD831768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73" y="1794482"/>
            <a:ext cx="9626453" cy="4534198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08E0A9C-7D16-A20F-1E6C-64C9E3E0A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968" y="567311"/>
            <a:ext cx="9066212" cy="864096"/>
          </a:xfrm>
        </p:spPr>
        <p:txBody>
          <a:bodyPr>
            <a:noAutofit/>
          </a:bodyPr>
          <a:lstStyle/>
          <a:p>
            <a:pPr algn="ctr"/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Результаты моделирование в среде «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MATLAB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2400" dirty="0">
                <a:latin typeface="Times New Roman" pitchFamily="18" charset="0"/>
                <a:cs typeface="Times New Roman" pitchFamily="18" charset="0"/>
              </a:rPr>
            </a:b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Осциллограмма сигнала вблизи (первые 2 символа)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FAFB1304-0FD2-CA0B-271E-EFB729B7E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12780" y="6237312"/>
            <a:ext cx="2311400" cy="365125"/>
          </a:xfrm>
        </p:spPr>
        <p:txBody>
          <a:bodyPr/>
          <a:lstStyle/>
          <a:p>
            <a:fld id="{DDCB711F-507F-4143-95C2-A9CD61F9272B}" type="slidenum">
              <a:rPr lang="ru-RU" smtClean="0"/>
              <a:pPr/>
              <a:t>9</a:t>
            </a:fld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6CC88BD-89B6-9AE1-2CFB-D8515F0927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36912"/>
            <a:ext cx="9906000" cy="2822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53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75BA20BA-8F60-91A4-FBDF-ED1D9E7B7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496" y="476672"/>
            <a:ext cx="8875033" cy="775942"/>
          </a:xfrm>
        </p:spPr>
        <p:txBody>
          <a:bodyPr>
            <a:noAutofit/>
          </a:bodyPr>
          <a:lstStyle/>
          <a:p>
            <a:pPr algn="ctr"/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Результаты моделирование в среде «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MATLAB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»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2400" dirty="0">
                <a:latin typeface="Times New Roman" pitchFamily="18" charset="0"/>
                <a:cs typeface="Times New Roman" pitchFamily="18" charset="0"/>
              </a:rPr>
            </a:b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Пример спектра сигнала ЛЧМ ФМ-2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A0939F71-FC9F-5659-103D-229892E2C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81676" y="6260436"/>
            <a:ext cx="2311400" cy="365125"/>
          </a:xfrm>
        </p:spPr>
        <p:txBody>
          <a:bodyPr/>
          <a:lstStyle/>
          <a:p>
            <a:fld id="{DDCB711F-507F-4143-95C2-A9CD61F9272B}" type="slidenum">
              <a:rPr lang="ru-RU" smtClean="0"/>
              <a:pPr/>
              <a:t>10</a:t>
            </a:fld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6F5FD82-19DD-055A-E2D3-FB47836B69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4200"/>
            <a:ext cx="9906000" cy="4878798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5506810B-1186-12BA-AC88-6456D492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092" y="285728"/>
            <a:ext cx="9539444" cy="1271064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Реализация формирователя на ПЛИС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.</a:t>
            </a:r>
            <a:br>
              <a:rPr lang="ru-RU" sz="2400" dirty="0">
                <a:latin typeface="Times New Roman" pitchFamily="18" charset="0"/>
                <a:cs typeface="Times New Roman" pitchFamily="18" charset="0"/>
              </a:rPr>
            </a:b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Блок-схема алгоритма работы формирователя на ПЛИС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0ED23422-3A53-35EF-D99C-DB13ED9C98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11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69D477C-7014-18F0-2CB3-1F10E1EA8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0552" y="1686699"/>
            <a:ext cx="7862391" cy="4511539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0DC6DE0-C557-85C8-E16E-19F021096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Структурная схема формирователя в среде «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Vivado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BAA6E2C8-C6A5-747E-F988-C5EE33B30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4FF1E0-E970-EC3A-7931-712D803B94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80" y="1916832"/>
            <a:ext cx="8915400" cy="3934975"/>
          </a:xfrm>
          <a:prstGeom prst="rect">
            <a:avLst/>
          </a:prstGeom>
        </p:spPr>
      </p:pic>
    </p:spTree>
  </p:cSld>
  <p:clrMapOvr>
    <a:masterClrMapping/>
  </p:clrMapOvr>
  <p:transition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F68AAF5-0B53-B046-5659-369CEB2048B0}"/>
              </a:ext>
            </a:extLst>
          </p:cNvPr>
          <p:cNvSpPr txBox="1">
            <a:spLocks/>
          </p:cNvSpPr>
          <p:nvPr/>
        </p:nvSpPr>
        <p:spPr>
          <a:xfrm>
            <a:off x="495300" y="274638"/>
            <a:ext cx="9066212" cy="8501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Внешний интерфейс модуля генерации кода Голда</a:t>
            </a: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Gold_Code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E09EAE4-45F7-8BC6-3A62-9C59746F9D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102" y="1484784"/>
            <a:ext cx="5472608" cy="4720683"/>
          </a:xfrm>
          <a:prstGeom prst="rect">
            <a:avLst/>
          </a:prstGeom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759DFD4A-EA12-97F1-4C3A-5EF74E95F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13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092" y="476672"/>
            <a:ext cx="9539444" cy="792088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Внешний интерфейс модуля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DDS_Control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1010BA5-A2C9-62B1-6B51-BB8F3EBE0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9167842" y="6215082"/>
            <a:ext cx="50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/>
              <a:t> 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21282A5-C196-AF76-126C-9DDF85E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518" y="1390436"/>
            <a:ext cx="5328592" cy="5115902"/>
          </a:xfrm>
          <a:prstGeom prst="rect">
            <a:avLst/>
          </a:prstGeom>
        </p:spPr>
      </p:pic>
    </p:spTree>
  </p:cSld>
  <p:clrMapOvr>
    <a:masterClrMapping/>
  </p:clrMapOvr>
  <p:transition>
    <p:dissolv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092" y="476672"/>
            <a:ext cx="9539444" cy="792088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Внешний интерфейс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IP 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ядер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DDS_Compiler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и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Clocking Wizard,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 находящихся в составе модуля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DDS_Control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1010BA5-A2C9-62B1-6B51-BB8F3EBE0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15</a:t>
            </a:fld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9167842" y="6215082"/>
            <a:ext cx="50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/>
              <a:t> 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28447DC-4BC8-551D-8589-255CE0332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592" y="1700808"/>
            <a:ext cx="6696744" cy="4923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458610"/>
      </p:ext>
    </p:extLst>
  </p:cSld>
  <p:clrMapOvr>
    <a:masterClrMapping/>
  </p:clrMapOvr>
  <p:transition>
    <p:dissolv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">
            <a:extLst>
              <a:ext uri="{FF2B5EF4-FFF2-40B4-BE49-F238E27FC236}">
                <a16:creationId xmlns:a16="http://schemas.microsoft.com/office/drawing/2014/main" id="{F715B68E-47D5-3FD5-EE49-2385F3A6F4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092" y="476672"/>
            <a:ext cx="9539444" cy="792088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Расчет параметров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IP </a:t>
            </a:r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ядра 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DDS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C000CEC-44B9-6A71-6005-9BBE7D107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623CD03-27FD-04FB-3440-00A2B3E0F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712" y="5461859"/>
            <a:ext cx="3422317" cy="98754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F2FA7E3-12B4-7FA1-4AE8-305D23A887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5508045"/>
            <a:ext cx="3315163" cy="943544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40E987F-4D02-FDC5-83F0-78CCC64CC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552" y="1298052"/>
            <a:ext cx="7344816" cy="4202909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E812F06B-D9A5-4294-6721-68E3EA01C3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092" y="5425023"/>
            <a:ext cx="2377361" cy="1019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4806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CC80A78-581E-EF7D-BBA2-221C05F5F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548680"/>
            <a:ext cx="9066212" cy="626433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работы модуля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DDS_Control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Начало работы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913343-4C32-6FC9-E7A1-F1130FE37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17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FBBF176-07EF-8E12-4988-8200E2E57D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20" y="1540238"/>
            <a:ext cx="8712968" cy="48161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366450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68FD2BCD-6D22-DD86-1FC0-7DC4D30CA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448" y="620688"/>
            <a:ext cx="9066212" cy="720080"/>
          </a:xfrm>
        </p:spPr>
        <p:txBody>
          <a:bodyPr>
            <a:normAutofit fontScale="90000"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работы модуля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DDS_Control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Максимум фазового инкремента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6A200A9D-D62A-37ED-4794-6FF601FD0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18</a:t>
            </a:fld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0DCA5E6-B0DB-EA32-49AB-E0CFECA6138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248" y="1484784"/>
            <a:ext cx="8912412" cy="44644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468645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9167842" y="6215082"/>
            <a:ext cx="5000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/>
              <a:t> </a:t>
            </a: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444AD0B8-CCB8-1533-9F1F-E9CE778859A3}"/>
              </a:ext>
            </a:extLst>
          </p:cNvPr>
          <p:cNvSpPr txBox="1">
            <a:spLocks/>
          </p:cNvSpPr>
          <p:nvPr/>
        </p:nvSpPr>
        <p:spPr>
          <a:xfrm>
            <a:off x="354016" y="444958"/>
            <a:ext cx="9066212" cy="84603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работы модуля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DDS_Control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Минимум фазового инкремента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F196B25-3CD8-C3BA-BA4E-AA13C2F367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504" y="1484784"/>
            <a:ext cx="8679338" cy="4536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2C6CF120-CE94-4C23-A3F1-0E9EB63E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19</a:t>
            </a:fld>
            <a:endParaRPr lang="ru-RU"/>
          </a:p>
        </p:txBody>
      </p:sp>
    </p:spTree>
  </p:cSld>
  <p:clrMapOvr>
    <a:masterClrMapping/>
  </p:clrMapOvr>
  <p:transition>
    <p:dissolv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B921CF3-FED3-0ADF-FCF2-2EB5A2335E8A}"/>
              </a:ext>
            </a:extLst>
          </p:cNvPr>
          <p:cNvSpPr txBox="1">
            <a:spLocks/>
          </p:cNvSpPr>
          <p:nvPr/>
        </p:nvSpPr>
        <p:spPr>
          <a:xfrm>
            <a:off x="495300" y="404664"/>
            <a:ext cx="9066212" cy="7920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работы модуля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DDS_Control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Формирование первых двух символов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9660DB1-CA5D-69BB-3E67-7C29AE27EE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300" y="1484784"/>
            <a:ext cx="8915400" cy="4608512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FBFD620-DAF2-58AC-026E-A0E5F1244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20</a:t>
            </a:fld>
            <a:endParaRPr lang="ru-RU"/>
          </a:p>
        </p:txBody>
      </p:sp>
    </p:spTree>
  </p:cSld>
  <p:clrMapOvr>
    <a:masterClrMapping/>
  </p:clrMapOvr>
  <p:transition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1E0823F8-8995-B40A-A954-8BC1CA449C80}"/>
              </a:ext>
            </a:extLst>
          </p:cNvPr>
          <p:cNvSpPr txBox="1">
            <a:spLocks/>
          </p:cNvSpPr>
          <p:nvPr/>
        </p:nvSpPr>
        <p:spPr>
          <a:xfrm>
            <a:off x="454574" y="311166"/>
            <a:ext cx="9066212" cy="669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Выбор полиномов модуля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Gold_Code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58175CB-B651-C463-2EA2-6F134957A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841" y="1124744"/>
            <a:ext cx="4849799" cy="2890051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B854EB5-F143-0019-15A5-D7A19FAC4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0" y="1124744"/>
            <a:ext cx="4815120" cy="2890051"/>
          </a:xfrm>
          <a:prstGeom prst="rect">
            <a:avLst/>
          </a:prstGeom>
        </p:spPr>
      </p:pic>
      <p:sp>
        <p:nvSpPr>
          <p:cNvPr id="16" name="Номер слайда 15">
            <a:extLst>
              <a:ext uri="{FF2B5EF4-FFF2-40B4-BE49-F238E27FC236}">
                <a16:creationId xmlns:a16="http://schemas.microsoft.com/office/drawing/2014/main" id="{B6ACD124-499D-764D-F4BC-1223692A2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21</a:t>
            </a:fld>
            <a:endParaRPr lang="ru-RU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31891F13-C947-B7FF-71FB-E929E6EF17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680" y="274638"/>
            <a:ext cx="9906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E5F85E3F-7746-5F43-E4BD-4A7A3779E67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80515910"/>
              </p:ext>
            </p:extLst>
          </p:nvPr>
        </p:nvGraphicFramePr>
        <p:xfrm>
          <a:off x="2229272" y="4158811"/>
          <a:ext cx="5220580" cy="21123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6867749" imgH="3476870" progId="Visio.Drawing.15">
                  <p:embed/>
                </p:oleObj>
              </mc:Choice>
              <mc:Fallback>
                <p:oleObj name="Visio" r:id="rId4" imgW="6867749" imgH="3476870" progId="Visio.Drawing.15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9272" y="4158811"/>
                        <a:ext cx="5220580" cy="211236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>
    <p:dissolv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C2687B-8918-D98E-42F0-C9E3C3EAB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548680"/>
            <a:ext cx="8915400" cy="720080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itchFamily="18" charset="0"/>
                <a:cs typeface="Times New Roman" pitchFamily="18" charset="0"/>
              </a:rPr>
              <a:t>Моделирование работы модуля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Gold_Code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Начало работы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799DE0-1912-4AE9-E9C0-C763BD160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22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F6691D6-A712-6F8A-E162-0FEFD46F7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80" y="1772816"/>
            <a:ext cx="9217024" cy="3456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14076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C2687B-8918-D98E-42F0-C9E3C3EAB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476672"/>
            <a:ext cx="8915400" cy="792088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работы модуля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Gold_Code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Завершение генерации </a:t>
            </a: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94B5D61F-8D55-6FE3-260D-DB724132A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23</a:t>
            </a:fld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410554E-2DC4-1C74-BF25-EEBDA378E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88" y="1844824"/>
            <a:ext cx="9200316" cy="324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0196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D7DC9-3F2E-A90E-D2FF-544975EA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898" y="188641"/>
            <a:ext cx="9092802" cy="936103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работы формирователя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Начало работы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CC43535-CFCF-768F-39AA-B9838325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24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E3674E-08ED-3D56-EF65-13451F8C47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898" y="1228907"/>
            <a:ext cx="8883574" cy="49363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649095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D7DC9-3F2E-A90E-D2FF-544975EA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188641"/>
            <a:ext cx="9138220" cy="936104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работы формирователя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Генерация первых 6 символов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8DDFD9B-A9BC-D4DD-FDF5-86306D603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25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A1ABDB2-0BB0-632F-122B-1DFA92D24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340" y="1349904"/>
            <a:ext cx="9205384" cy="478128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47239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D7DC9-3F2E-A90E-D2FF-544975EAC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504" y="188641"/>
            <a:ext cx="9001000" cy="864095"/>
          </a:xfrm>
        </p:spPr>
        <p:txBody>
          <a:bodyPr>
            <a:normAutofit/>
          </a:bodyPr>
          <a:lstStyle/>
          <a:p>
            <a:pPr algn="ctr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Моделирование работы формирователя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Изменение начальной фазы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1982FBF3-8A13-6851-4308-838F5271E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26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21D6BF7-894C-23F6-C384-1339B52831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80" y="1133880"/>
            <a:ext cx="6111307" cy="3888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1CBE347-F12D-45AB-336C-250EB11E1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7096" y="4437112"/>
            <a:ext cx="3481799" cy="151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6026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44488" y="620689"/>
            <a:ext cx="9066212" cy="5256583"/>
          </a:xfrm>
        </p:spPr>
        <p:txBody>
          <a:bodyPr>
            <a:normAutofit/>
          </a:bodyPr>
          <a:lstStyle/>
          <a:p>
            <a:pPr marL="95250" indent="0" algn="ctr">
              <a:buNone/>
            </a:pPr>
            <a:r>
              <a:rPr lang="ru-RU" sz="2800" b="1" dirty="0">
                <a:latin typeface="Times New Roman" pitchFamily="18" charset="0"/>
                <a:cs typeface="Times New Roman" pitchFamily="18" charset="0"/>
              </a:rPr>
              <a:t>       </a:t>
            </a:r>
            <a:r>
              <a:rPr lang="ru-RU" sz="2400" b="1" dirty="0">
                <a:latin typeface="Times New Roman" pitchFamily="18" charset="0"/>
                <a:cs typeface="Times New Roman" pitchFamily="18" charset="0"/>
              </a:rPr>
              <a:t>Выводы:</a:t>
            </a:r>
          </a:p>
          <a:p>
            <a:pPr marL="95250" indent="0" algn="just">
              <a:buNone/>
            </a:pPr>
            <a:endParaRPr lang="ru-RU" sz="2400" b="1" dirty="0">
              <a:latin typeface="Times New Roman" pitchFamily="18" charset="0"/>
              <a:cs typeface="Times New Roman" pitchFamily="18" charset="0"/>
            </a:endParaRPr>
          </a:p>
          <a:p>
            <a:pPr marL="609600" indent="-51435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формирователь ЛЧМ ФМ-2 сигналов с информационными данными на основе кода Голда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09600" indent="-51435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 алгоритм работы и структурная схема передатчика ЛЧМ ФМ-2 сигналов </a:t>
            </a:r>
          </a:p>
          <a:p>
            <a:pPr marL="609600" indent="-51435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Выполнено моделирование работы передатчика в среде «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MATLAB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marL="609600" indent="-51435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Выполнено моделирование работы передатчика в САПР «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Vivado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AMD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09600" indent="-514350" algn="just">
              <a:buFont typeface="Arial" pitchFamily="34" charset="0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Выполнена пробная реализация модуля формирователя ЛЧМ ФМ-2 сигналов на ПЛИС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Spartan-3</a:t>
            </a:r>
            <a:endParaRPr lang="ru-RU" sz="2800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43037E1-30A8-37C4-A9A8-DB706DCE5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B711F-507F-4143-95C2-A9CD61F9272B}" type="slidenum">
              <a:rPr lang="ru-RU" smtClean="0"/>
              <a:pPr/>
              <a:t>27</a:t>
            </a:fld>
            <a:endParaRPr lang="ru-RU"/>
          </a:p>
        </p:txBody>
      </p:sp>
    </p:spTree>
  </p:cSld>
  <p:clrMapOvr>
    <a:masterClrMapping/>
  </p:clrMapOvr>
  <p:transition>
    <p:fade thruBlk="1"/>
  </p:transition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3851</TotalTime>
  <Words>503</Words>
  <Application>Microsoft Office PowerPoint</Application>
  <PresentationFormat>Лист A4 (210x297 мм)</PresentationFormat>
  <Paragraphs>111</Paragraphs>
  <Slides>27</Slides>
  <Notes>1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Times New Roman</vt:lpstr>
      <vt:lpstr>Тема Office</vt:lpstr>
      <vt:lpstr>Visio</vt:lpstr>
      <vt:lpstr>РЕАЛИЗАЦИЯ В ПЛИС ФОРМИРОВАТЕЛЯ ФАЗОМАНИПУЛИРОВАННОГО ЛЧМ СИГНАЛА  С ИСТОЧНИКОМ ИНФОРМАЦИОННЫХ ДАННЫХ  НА ОСНОВЕ КОДА ГОЛДА</vt:lpstr>
      <vt:lpstr>Презентация PowerPoint</vt:lpstr>
      <vt:lpstr>Презентация PowerPoint</vt:lpstr>
      <vt:lpstr>Алгоритм работы передатчика</vt:lpstr>
      <vt:lpstr>Передающий тракт на основе ЛЧМ ФМ-2 сигналов</vt:lpstr>
      <vt:lpstr>Моделирование работы формирователя сигналов ЛЧМ ФМ-2  в среде «MATLAB»</vt:lpstr>
      <vt:lpstr>Параметры модели «MATLAB»</vt:lpstr>
      <vt:lpstr>Результаты моделирование в среде «MATLAB». Осциллограмма сигнала и информационная последовательность (первые 3 символа)</vt:lpstr>
      <vt:lpstr>Результаты моделирование в среде «MATLAB». Осциллограмма сигнала вблизи (первые 2 символа)</vt:lpstr>
      <vt:lpstr>Результаты моделирование в среде «MATLAB». Пример спектра сигнала ЛЧМ ФМ-2</vt:lpstr>
      <vt:lpstr>Реализация формирователя на ПЛИС. Блок-схема алгоритма работы формирователя на ПЛИС</vt:lpstr>
      <vt:lpstr>Структурная схема формирователя в среде «Vivado»</vt:lpstr>
      <vt:lpstr>Презентация PowerPoint</vt:lpstr>
      <vt:lpstr>Внешний интерфейс модуля DDS_Control</vt:lpstr>
      <vt:lpstr>Внешний интерфейс IP ядер DDS_Compiler и Clocking Wizard, находящихся в составе модуля DDS_Control</vt:lpstr>
      <vt:lpstr>Расчет параметров IP ядра DDS</vt:lpstr>
      <vt:lpstr>Моделирование работы модуля DDS_Control. Начало работы</vt:lpstr>
      <vt:lpstr>Моделирование работы модуля DDS_Control.  Максимум фазового инкремента</vt:lpstr>
      <vt:lpstr>Презентация PowerPoint</vt:lpstr>
      <vt:lpstr>Презентация PowerPoint</vt:lpstr>
      <vt:lpstr>Презентация PowerPoint</vt:lpstr>
      <vt:lpstr>Моделирование работы модуля Gold_Code. Начало работы</vt:lpstr>
      <vt:lpstr>Моделирование работы модуля Gold_Code. Завершение генерации </vt:lpstr>
      <vt:lpstr>Моделирование работы формирователя. Начало работы</vt:lpstr>
      <vt:lpstr>Моделирование работы формирователя. Генерация первых 6 символов</vt:lpstr>
      <vt:lpstr>Моделирование работы формирователя. Изменение начальной фазы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Александра</dc:creator>
  <cp:lastModifiedBy>Сергей Раваев</cp:lastModifiedBy>
  <cp:revision>244</cp:revision>
  <dcterms:created xsi:type="dcterms:W3CDTF">2010-11-07T11:16:40Z</dcterms:created>
  <dcterms:modified xsi:type="dcterms:W3CDTF">2026-06-08T16:22:55Z</dcterms:modified>
</cp:coreProperties>
</file>